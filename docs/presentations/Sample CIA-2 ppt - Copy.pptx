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314" r:id="rId3"/>
    <p:sldId id="266" r:id="rId4"/>
    <p:sldId id="267" r:id="rId5"/>
    <p:sldId id="319" r:id="rId6"/>
    <p:sldId id="332" r:id="rId7"/>
    <p:sldId id="321" r:id="rId8"/>
    <p:sldId id="322" r:id="rId9"/>
    <p:sldId id="324" r:id="rId10"/>
    <p:sldId id="325" r:id="rId11"/>
    <p:sldId id="326" r:id="rId12"/>
    <p:sldId id="330" r:id="rId13"/>
    <p:sldId id="327" r:id="rId14"/>
    <p:sldId id="333" r:id="rId15"/>
    <p:sldId id="334" r:id="rId16"/>
    <p:sldId id="335" r:id="rId17"/>
    <p:sldId id="337" r:id="rId18"/>
    <p:sldId id="338" r:id="rId19"/>
    <p:sldId id="291" r:id="rId20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765" autoAdjust="0"/>
  </p:normalViewPr>
  <p:slideViewPr>
    <p:cSldViewPr snapToGrid="0">
      <p:cViewPr varScale="1">
        <p:scale>
          <a:sx n="91" d="100"/>
          <a:sy n="91" d="100"/>
        </p:scale>
        <p:origin x="1138" y="6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>
            <a:extLst>
              <a:ext uri="{FF2B5EF4-FFF2-40B4-BE49-F238E27FC236}">
                <a16:creationId xmlns:a16="http://schemas.microsoft.com/office/drawing/2014/main" id="{4A9E8663-6638-41A7-40ED-07780B989F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5" name="Google Shape;4;n">
            <a:extLst>
              <a:ext uri="{FF2B5EF4-FFF2-40B4-BE49-F238E27FC236}">
                <a16:creationId xmlns:a16="http://schemas.microsoft.com/office/drawing/2014/main" id="{F4043E1C-887C-D5B4-EECD-3BDAEDFD7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51;p:notes">
            <a:extLst>
              <a:ext uri="{FF2B5EF4-FFF2-40B4-BE49-F238E27FC236}">
                <a16:creationId xmlns:a16="http://schemas.microsoft.com/office/drawing/2014/main" id="{A59F5708-9A7F-1B69-0C03-925DA3FB155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5123" name="Google Shape;52;p:notes">
            <a:extLst>
              <a:ext uri="{FF2B5EF4-FFF2-40B4-BE49-F238E27FC236}">
                <a16:creationId xmlns:a16="http://schemas.microsoft.com/office/drawing/2014/main" id="{A552E64B-3417-9A39-43C7-E348F30AC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61;gb6148a5caf_0_26:notes">
            <a:extLst>
              <a:ext uri="{FF2B5EF4-FFF2-40B4-BE49-F238E27FC236}">
                <a16:creationId xmlns:a16="http://schemas.microsoft.com/office/drawing/2014/main" id="{908C9B25-5E49-9372-09A3-504C0B61C59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7171" name="Google Shape;62;gb6148a5caf_0_26:notes">
            <a:extLst>
              <a:ext uri="{FF2B5EF4-FFF2-40B4-BE49-F238E27FC236}">
                <a16:creationId xmlns:a16="http://schemas.microsoft.com/office/drawing/2014/main" id="{99C68EB3-554C-97DF-823E-D860CDEEF0C1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61;gb6148a5caf_0_26:notes">
            <a:extLst>
              <a:ext uri="{FF2B5EF4-FFF2-40B4-BE49-F238E27FC236}">
                <a16:creationId xmlns:a16="http://schemas.microsoft.com/office/drawing/2014/main" id="{DBEAC605-2ECB-2FD0-F285-5A01A6FB334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9219" name="Google Shape;62;gb6148a5caf_0_26:notes">
            <a:extLst>
              <a:ext uri="{FF2B5EF4-FFF2-40B4-BE49-F238E27FC236}">
                <a16:creationId xmlns:a16="http://schemas.microsoft.com/office/drawing/2014/main" id="{24A55C58-650B-15BC-E16A-622856303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61;gb6148a5caf_0_26:notes">
            <a:extLst>
              <a:ext uri="{FF2B5EF4-FFF2-40B4-BE49-F238E27FC236}">
                <a16:creationId xmlns:a16="http://schemas.microsoft.com/office/drawing/2014/main" id="{5DA3126F-1934-6002-D4B3-0AF45658264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1267" name="Google Shape;62;gb6148a5caf_0_26:notes">
            <a:extLst>
              <a:ext uri="{FF2B5EF4-FFF2-40B4-BE49-F238E27FC236}">
                <a16:creationId xmlns:a16="http://schemas.microsoft.com/office/drawing/2014/main" id="{420AD77A-9312-ED7F-FB81-2A8A62BEC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61;gb6148a5caf_0_26:notes">
            <a:extLst>
              <a:ext uri="{FF2B5EF4-FFF2-40B4-BE49-F238E27FC236}">
                <a16:creationId xmlns:a16="http://schemas.microsoft.com/office/drawing/2014/main" id="{428796FF-E022-E8C6-1A4E-DDA47FAC6CC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3315" name="Google Shape;62;gb6148a5caf_0_26:notes">
            <a:extLst>
              <a:ext uri="{FF2B5EF4-FFF2-40B4-BE49-F238E27FC236}">
                <a16:creationId xmlns:a16="http://schemas.microsoft.com/office/drawing/2014/main" id="{E990ACB1-DF53-ADD8-26F0-694DF265F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874431-3D39-8A9D-442E-B2E4F4F2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61;gb6148a5caf_0_26:notes">
            <a:extLst>
              <a:ext uri="{FF2B5EF4-FFF2-40B4-BE49-F238E27FC236}">
                <a16:creationId xmlns:a16="http://schemas.microsoft.com/office/drawing/2014/main" id="{DD5F7488-FE80-265E-7120-BF0DD17123C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3315" name="Google Shape;62;gb6148a5caf_0_26:notes">
            <a:extLst>
              <a:ext uri="{FF2B5EF4-FFF2-40B4-BE49-F238E27FC236}">
                <a16:creationId xmlns:a16="http://schemas.microsoft.com/office/drawing/2014/main" id="{7F0334B8-476B-AF85-1D5E-09388878F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772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61;gb6148a5caf_0_26:notes">
            <a:extLst>
              <a:ext uri="{FF2B5EF4-FFF2-40B4-BE49-F238E27FC236}">
                <a16:creationId xmlns:a16="http://schemas.microsoft.com/office/drawing/2014/main" id="{78FA8A54-24E6-FB16-0E9D-9549DD37024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7411" name="Google Shape;62;gb6148a5caf_0_26:notes">
            <a:extLst>
              <a:ext uri="{FF2B5EF4-FFF2-40B4-BE49-F238E27FC236}">
                <a16:creationId xmlns:a16="http://schemas.microsoft.com/office/drawing/2014/main" id="{115FE142-B167-33CD-2E81-85E4B40B3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61;gb6148a5caf_0_26:notes">
            <a:extLst>
              <a:ext uri="{FF2B5EF4-FFF2-40B4-BE49-F238E27FC236}">
                <a16:creationId xmlns:a16="http://schemas.microsoft.com/office/drawing/2014/main" id="{5ECED904-6329-C4A5-87E3-8EFED2606A6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9459" name="Google Shape;62;gb6148a5caf_0_26:notes">
            <a:extLst>
              <a:ext uri="{FF2B5EF4-FFF2-40B4-BE49-F238E27FC236}">
                <a16:creationId xmlns:a16="http://schemas.microsoft.com/office/drawing/2014/main" id="{DD4F034D-0548-794C-D70C-66CCC0BC8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61;gb6148a5caf_0_26:notes">
            <a:extLst>
              <a:ext uri="{FF2B5EF4-FFF2-40B4-BE49-F238E27FC236}">
                <a16:creationId xmlns:a16="http://schemas.microsoft.com/office/drawing/2014/main" id="{AC16B9DC-282F-1C4B-3F1B-1F103748D49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3555" name="Google Shape;62;gb6148a5caf_0_26:notes">
            <a:extLst>
              <a:ext uri="{FF2B5EF4-FFF2-40B4-BE49-F238E27FC236}">
                <a16:creationId xmlns:a16="http://schemas.microsoft.com/office/drawing/2014/main" id="{303A3989-B875-5A92-5ACA-ACFF331CB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61;gb6148a5caf_0_26:notes">
            <a:extLst>
              <a:ext uri="{FF2B5EF4-FFF2-40B4-BE49-F238E27FC236}">
                <a16:creationId xmlns:a16="http://schemas.microsoft.com/office/drawing/2014/main" id="{14E4BFD3-72DA-4B63-BC0A-06E02103010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5603" name="Google Shape;62;gb6148a5caf_0_26:notes">
            <a:extLst>
              <a:ext uri="{FF2B5EF4-FFF2-40B4-BE49-F238E27FC236}">
                <a16:creationId xmlns:a16="http://schemas.microsoft.com/office/drawing/2014/main" id="{CFFC22E0-0992-E9B4-9602-DEDA8E4C5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61;gb6148a5caf_0_26:notes">
            <a:extLst>
              <a:ext uri="{FF2B5EF4-FFF2-40B4-BE49-F238E27FC236}">
                <a16:creationId xmlns:a16="http://schemas.microsoft.com/office/drawing/2014/main" id="{F31F03BC-2DC8-92C1-81D6-5C9540EEA8E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7651" name="Google Shape;62;gb6148a5caf_0_26:notes">
            <a:extLst>
              <a:ext uri="{FF2B5EF4-FFF2-40B4-BE49-F238E27FC236}">
                <a16:creationId xmlns:a16="http://schemas.microsoft.com/office/drawing/2014/main" id="{7676DCF6-3A51-804A-A036-8124670D4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82DE0BF-8456-D604-769D-9B72B12C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61;gb6148a5caf_0_26:notes">
            <a:extLst>
              <a:ext uri="{FF2B5EF4-FFF2-40B4-BE49-F238E27FC236}">
                <a16:creationId xmlns:a16="http://schemas.microsoft.com/office/drawing/2014/main" id="{BF8FD890-2A99-49B6-AE11-D7733F0F050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7651" name="Google Shape;62;gb6148a5caf_0_26:notes">
            <a:extLst>
              <a:ext uri="{FF2B5EF4-FFF2-40B4-BE49-F238E27FC236}">
                <a16:creationId xmlns:a16="http://schemas.microsoft.com/office/drawing/2014/main" id="{C8B438FF-4B84-FDE8-7867-288AC025E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67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A23A924A-150A-794D-F404-00C340C80A9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905431A6-4642-9EF9-F08B-618439B95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53664DB-7165-829A-F5A2-2F7B0FD3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AB0EA4D3-FACD-3813-0C9F-80E24DCDFA1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22B1B564-76D1-193C-6F94-3BA92282F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140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985401-91E5-0640-1E3A-8E972B5B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F7E1C5D8-DFD8-4D05-F3E8-22C733F050C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293C07CC-268B-7A67-9F33-B48C9A27A65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781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11F183A-68A4-EEA1-048C-343CF65ED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1CC14FC7-454F-FFBA-5917-E9D679EEB6D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896EC650-8899-F3ED-2FC7-FDFCDF78B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21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1A082BA-4EEB-F129-B5C8-54479BEE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9B4720ED-F800-1AE0-C489-683F9344358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797B25C0-A890-8956-1385-D07B45464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466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C3ABFA4-1921-2F2D-F964-4642E3C1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904484B3-B0BC-DF4F-DCEB-3AFA96E5B66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6EEC7E4B-FCA1-9FAC-5260-8A9D40588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243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61;gb6148a5caf_0_26:notes">
            <a:extLst>
              <a:ext uri="{FF2B5EF4-FFF2-40B4-BE49-F238E27FC236}">
                <a16:creationId xmlns:a16="http://schemas.microsoft.com/office/drawing/2014/main" id="{FB79C40B-F5F7-6F79-E4BD-067DD195276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35843" name="Google Shape;62;gb6148a5caf_0_26:notes">
            <a:extLst>
              <a:ext uri="{FF2B5EF4-FFF2-40B4-BE49-F238E27FC236}">
                <a16:creationId xmlns:a16="http://schemas.microsoft.com/office/drawing/2014/main" id="{AFF88471-33D5-827C-E388-A3D832EAF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2467DBEF-6758-2B65-CF20-A06B90F23B82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F705E-58FB-410C-925D-2A996552B5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875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12CE558F-8D17-AB14-3C94-4766AC039857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0F07F-BD0E-4A07-A4BA-167C80550D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89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ED8C2003-0FD0-79CB-0A06-59574A7B2FA5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3C8E9-987E-4AE3-9E5F-595346DEE3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63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>
            <a:extLst>
              <a:ext uri="{FF2B5EF4-FFF2-40B4-BE49-F238E27FC236}">
                <a16:creationId xmlns:a16="http://schemas.microsoft.com/office/drawing/2014/main" id="{38C43363-93B6-8BE1-BAD5-9C9F145C8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" name="Google Shape;40;p9">
            <a:extLst>
              <a:ext uri="{FF2B5EF4-FFF2-40B4-BE49-F238E27FC236}">
                <a16:creationId xmlns:a16="http://schemas.microsoft.com/office/drawing/2014/main" id="{7E6A6310-BA34-6479-3D8D-F27FD994F723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75061-0BED-4F9A-BF43-C74C043B70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92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1C26D03D-620A-4D95-5C5B-E69BF1F1C108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EC72F9-CF6F-4BE4-A655-E7BF09312D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336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8C31B8B1-1CD1-8392-E993-9B9BC568924F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74C1D-522F-439E-A4F8-224CAAC996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22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;p1">
            <a:extLst>
              <a:ext uri="{FF2B5EF4-FFF2-40B4-BE49-F238E27FC236}">
                <a16:creationId xmlns:a16="http://schemas.microsoft.com/office/drawing/2014/main" id="{2E17AC62-1F55-DB84-BDD9-B8CDA25D4282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81A69-9B2B-4A5D-A059-AF491E785E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1006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>
            <a:extLst>
              <a:ext uri="{FF2B5EF4-FFF2-40B4-BE49-F238E27FC236}">
                <a16:creationId xmlns:a16="http://schemas.microsoft.com/office/drawing/2014/main" id="{54CB8C59-6859-BF0E-458C-D55C6CFA52D2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7;p1">
            <a:extLst>
              <a:ext uri="{FF2B5EF4-FFF2-40B4-BE49-F238E27FC236}">
                <a16:creationId xmlns:a16="http://schemas.microsoft.com/office/drawing/2014/main" id="{EEEEE3F7-078C-9690-E564-E6B73AFD6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8;p1">
            <a:extLst>
              <a:ext uri="{FF2B5EF4-FFF2-40B4-BE49-F238E27FC236}">
                <a16:creationId xmlns:a16="http://schemas.microsoft.com/office/drawing/2014/main" id="{693B9620-9367-F148-8288-D5D7463E14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000">
                <a:solidFill>
                  <a:srgbClr val="595959"/>
                </a:solidFill>
              </a:defRPr>
            </a:lvl1pPr>
          </a:lstStyle>
          <a:p>
            <a:pPr>
              <a:defRPr/>
            </a:pPr>
            <a:fld id="{D99C7298-F65F-4D88-B44E-58FFA2194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8" r:id="rId1"/>
    <p:sldLayoutId id="2147483760" r:id="rId2"/>
    <p:sldLayoutId id="2147483761" r:id="rId3"/>
    <p:sldLayoutId id="2147483765" r:id="rId4"/>
    <p:sldLayoutId id="2147483762" r:id="rId5"/>
    <p:sldLayoutId id="2147483763" r:id="rId6"/>
    <p:sldLayoutId id="214748376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Google Shape;54;p13">
            <a:extLst>
              <a:ext uri="{FF2B5EF4-FFF2-40B4-BE49-F238E27FC236}">
                <a16:creationId xmlns:a16="http://schemas.microsoft.com/office/drawing/2014/main" id="{82C31A2F-19F3-B995-B686-F4D4EA55655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075" y="46038"/>
            <a:ext cx="942975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Google Shape;56;p13">
            <a:extLst>
              <a:ext uri="{FF2B5EF4-FFF2-40B4-BE49-F238E27FC236}">
                <a16:creationId xmlns:a16="http://schemas.microsoft.com/office/drawing/2014/main" id="{BFE25960-E12F-F16A-2111-4060EC2E4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7625"/>
            <a:ext cx="9144000" cy="1298575"/>
          </a:xfrm>
          <a:prstGeom prst="rect">
            <a:avLst/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>
              <a:defRPr sz="2000" b="1"/>
            </a:pPr>
            <a:r>
              <a:t>CONNIFY: Decentralized Zero-Knowledge Connection Protocol Between Strangers &amp; Peer-to-Peer Community Mesh</a:t>
            </a: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72C88D42-404A-3118-62F5-F804D49A3D56}"/>
              </a:ext>
            </a:extLst>
          </p:cNvPr>
          <p:cNvSpPr txBox="1"/>
          <p:nvPr/>
        </p:nvSpPr>
        <p:spPr>
          <a:xfrm>
            <a:off x="11113" y="3235325"/>
            <a:ext cx="3348037" cy="188277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500" b="1" i="1" kern="0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sz="1500" b="1" i="1" kern="0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STUDENT NAME(REGISTER NO)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STUDENT NAME(REGISTER NO)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STUDENT NAME(REGISTER NO)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5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E3854518-8074-A71A-02BB-A75B7FD39E69}"/>
              </a:ext>
            </a:extLst>
          </p:cNvPr>
          <p:cNvSpPr txBox="1"/>
          <p:nvPr/>
        </p:nvSpPr>
        <p:spPr>
          <a:xfrm>
            <a:off x="6632575" y="3289300"/>
            <a:ext cx="2511425" cy="13382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500" b="1" i="1" kern="0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lang="en-IN" sz="1500" b="1" i="1" kern="0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Ms. S. KEERTHANA</a:t>
            </a:r>
            <a:endParaRPr lang="en-IN" sz="1500" b="1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ASSISTANT PROFESSOR,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DEPT OF CSE,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5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KRCT.</a:t>
            </a:r>
            <a:endParaRPr sz="1500" b="1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5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02" name="Picture 2">
            <a:extLst>
              <a:ext uri="{FF2B5EF4-FFF2-40B4-BE49-F238E27FC236}">
                <a16:creationId xmlns:a16="http://schemas.microsoft.com/office/drawing/2014/main" id="{1DD3CCF1-067A-D096-B94B-77A1435B4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174625"/>
            <a:ext cx="45720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Google Shape;64;p14">
            <a:extLst>
              <a:ext uri="{FF2B5EF4-FFF2-40B4-BE49-F238E27FC236}">
                <a16:creationId xmlns:a16="http://schemas.microsoft.com/office/drawing/2014/main" id="{4375B4A7-7834-269D-E01A-C599829D07A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025" y="20638"/>
            <a:ext cx="801688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Google Shape;65;p14">
            <a:extLst>
              <a:ext uri="{FF2B5EF4-FFF2-40B4-BE49-F238E27FC236}">
                <a16:creationId xmlns:a16="http://schemas.microsoft.com/office/drawing/2014/main" id="{27CE846F-7F86-46B7-8D01-A4BAF099D53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0"/>
            <a:ext cx="876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Google Shape;66;p14">
            <a:extLst>
              <a:ext uri="{FF2B5EF4-FFF2-40B4-BE49-F238E27FC236}">
                <a16:creationId xmlns:a16="http://schemas.microsoft.com/office/drawing/2014/main" id="{6EB9F0F2-4748-2886-9D81-C9E746119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-150987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CONTENTS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C974FB76-801F-FA5E-4E37-D9DE529EB253}"/>
              </a:ext>
            </a:extLst>
          </p:cNvPr>
          <p:cNvSpPr txBox="1"/>
          <p:nvPr/>
        </p:nvSpPr>
        <p:spPr>
          <a:xfrm>
            <a:off x="1146175" y="457172"/>
            <a:ext cx="7281863" cy="468632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 sz="1300"/>
            </a:pPr>
            <a:r>
              <a:t>1. Problem Identification &amp; The Stranger Trust Paradox</a:t>
            </a:r>
          </a:p>
          <a:p>
            <a:pPr>
              <a:spcAft>
                <a:spcPts val="600"/>
              </a:spcAft>
              <a:defRPr sz="1300"/>
            </a:pPr>
            <a:r>
              <a:t>2. Abstract &amp; Research Summary</a:t>
            </a:r>
          </a:p>
          <a:p>
            <a:pPr>
              <a:spcAft>
                <a:spcPts val="600"/>
              </a:spcAft>
              <a:defRPr sz="1300"/>
            </a:pPr>
            <a:r>
              <a:t>3. Objectives &amp; Scope of the Project</a:t>
            </a:r>
          </a:p>
          <a:p>
            <a:pPr>
              <a:spcAft>
                <a:spcPts val="600"/>
              </a:spcAft>
              <a:defRPr sz="1300"/>
            </a:pPr>
            <a:r>
              <a:t>4. Existing System &amp; Critical Limitations</a:t>
            </a:r>
          </a:p>
          <a:p>
            <a:pPr>
              <a:spcAft>
                <a:spcPts val="600"/>
              </a:spcAft>
              <a:defRPr sz="1300"/>
            </a:pPr>
            <a:r>
              <a:t>5. Proposed System: The Connify Protocol</a:t>
            </a:r>
          </a:p>
          <a:p>
            <a:pPr>
              <a:spcAft>
                <a:spcPts val="600"/>
              </a:spcAft>
              <a:defRPr sz="1300"/>
            </a:pPr>
            <a:r>
              <a:t>6. System Architecture Diagram &amp; Dataflow</a:t>
            </a:r>
          </a:p>
          <a:p>
            <a:pPr>
              <a:spcAft>
                <a:spcPts val="600"/>
              </a:spcAft>
              <a:defRPr sz="1300"/>
            </a:pPr>
            <a:r>
              <a:t>7. Advantages &amp; Mathematical Innovation (SHARP)</a:t>
            </a:r>
          </a:p>
          <a:p>
            <a:pPr>
              <a:spcAft>
                <a:spcPts val="600"/>
              </a:spcAft>
              <a:defRPr sz="1300"/>
            </a:pPr>
            <a:r>
              <a:t>8. Detailed Module Description</a:t>
            </a:r>
          </a:p>
          <a:p>
            <a:pPr>
              <a:spcAft>
                <a:spcPts val="600"/>
              </a:spcAft>
              <a:defRPr sz="1300"/>
            </a:pPr>
            <a:r>
              <a:t>9. Technology Stack &amp; Prerequisites</a:t>
            </a:r>
          </a:p>
          <a:p>
            <a:pPr>
              <a:spcAft>
                <a:spcPts val="600"/>
              </a:spcAft>
              <a:defRPr sz="1300"/>
            </a:pPr>
            <a:r>
              <a:t>10. UI Prototype &amp; Implemented Mobile Screens</a:t>
            </a:r>
          </a:p>
          <a:p>
            <a:pPr>
              <a:spcAft>
                <a:spcPts val="600"/>
              </a:spcAft>
              <a:defRPr sz="1300"/>
            </a:pPr>
            <a:r>
              <a:t>11. Implementation Details &amp; Cryptographic Pipeline</a:t>
            </a:r>
          </a:p>
          <a:p>
            <a:pPr>
              <a:spcAft>
                <a:spcPts val="600"/>
              </a:spcAft>
              <a:defRPr sz="1300"/>
            </a:pPr>
            <a:r>
              <a:t>12. Test Cases &amp; Experimental Analysis</a:t>
            </a:r>
          </a:p>
          <a:p>
            <a:pPr>
              <a:spcAft>
                <a:spcPts val="600"/>
              </a:spcAft>
              <a:defRPr sz="1300"/>
            </a:pPr>
            <a:r>
              <a:t>13. Current Progress &amp; Output Milestones</a:t>
            </a:r>
          </a:p>
          <a:p>
            <a:pPr>
              <a:spcAft>
                <a:spcPts val="600"/>
              </a:spcAft>
              <a:defRPr sz="1300"/>
            </a:pPr>
            <a:r>
              <a:t>14. Conclusion &amp;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Google Shape;64;p14">
            <a:extLst>
              <a:ext uri="{FF2B5EF4-FFF2-40B4-BE49-F238E27FC236}">
                <a16:creationId xmlns:a16="http://schemas.microsoft.com/office/drawing/2014/main" id="{1A994694-DB68-D918-E908-4273013529E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0"/>
            <a:ext cx="801688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Google Shape;65;p14">
            <a:extLst>
              <a:ext uri="{FF2B5EF4-FFF2-40B4-BE49-F238E27FC236}">
                <a16:creationId xmlns:a16="http://schemas.microsoft.com/office/drawing/2014/main" id="{10222823-4A62-D282-12FA-69BBA9B8DBA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-206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Google Shape;66;p14">
            <a:extLst>
              <a:ext uri="{FF2B5EF4-FFF2-40B4-BE49-F238E27FC236}">
                <a16:creationId xmlns:a16="http://schemas.microsoft.com/office/drawing/2014/main" id="{C80F12B2-FFC2-3750-00C4-F15DEAA88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74613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PROBLEM IDENTIFICATION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0216EBE-45DE-2DAE-E61B-BBCEE3E743CB}"/>
              </a:ext>
            </a:extLst>
          </p:cNvPr>
          <p:cNvSpPr txBox="1"/>
          <p:nvPr/>
        </p:nvSpPr>
        <p:spPr>
          <a:xfrm>
            <a:off x="1146175" y="1035050"/>
            <a:ext cx="7281863" cy="367823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Urban Isolation &amp; The Stranger Barrier: Nearby strangers are the fastest source of aid in cities, but lack a secure, private protocol to connect safely.</a:t>
            </a:r>
            <a:endParaRPr sz="20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The Privacy-Accuracy Paradox: Traditional emergency apps stream continuous plaintext GPS to central servers, creating severe surveillance risks.</a:t>
            </a:r>
          </a:p>
          <a:p>
            <a:pPr>
              <a:spcAft>
                <a:spcPts val="600"/>
              </a:spcAft>
              <a:defRPr sz="1300"/>
            </a:pPr>
            <a:r>
              <a:t>• Coordinate Jitter &amp; Hash Failure: Exact hashing (SHA-256(lat||lng)) fails due to natural 5-15m GPS sensor drift, preventing zero-knowledge proximity matching.</a:t>
            </a:r>
          </a:p>
          <a:p>
            <a:pPr>
              <a:spcAft>
                <a:spcPts val="600"/>
              </a:spcAft>
              <a:defRPr sz="1300"/>
            </a:pPr>
            <a:r>
              <a:t>• Predatory Luring &amp; Ambush Threats: Peer-to-peer assistance without behavioral evaluation allows malicious actors to broadcast fake alerts to lure victims.</a:t>
            </a:r>
          </a:p>
          <a:p>
            <a:pPr>
              <a:spcAft>
                <a:spcPts val="600"/>
              </a:spcAft>
              <a:defRPr sz="1300"/>
            </a:pPr>
            <a:r>
              <a:t>• Subterranean &amp; Network Blackouts: Conventional cloud apps fail completely in subterranean transit, basements, or remote dead 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Google Shape;64;p14">
            <a:extLst>
              <a:ext uri="{FF2B5EF4-FFF2-40B4-BE49-F238E27FC236}">
                <a16:creationId xmlns:a16="http://schemas.microsoft.com/office/drawing/2014/main" id="{1F6BEBF6-55AF-290A-8E7C-5B0FC3BF192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Google Shape;65;p14">
            <a:extLst>
              <a:ext uri="{FF2B5EF4-FFF2-40B4-BE49-F238E27FC236}">
                <a16:creationId xmlns:a16="http://schemas.microsoft.com/office/drawing/2014/main" id="{C6F4AD22-5B2C-D576-40CF-E2E4474E7A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Google Shape;66;p14">
            <a:extLst>
              <a:ext uri="{FF2B5EF4-FFF2-40B4-BE49-F238E27FC236}">
                <a16:creationId xmlns:a16="http://schemas.microsoft.com/office/drawing/2014/main" id="{38914F27-323B-FF7E-4551-2D430D028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ABSTRACT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F7489DFE-F9EE-5C55-BD34-0938115068AA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Protocol Vision: An open-source, zero-trust cryptographic protocol connecting strangers in physical proximity for mutual aid and emergency response.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Cryptographic Innovation (SHARP): Syndrome-Based Error-Correction Spatial Matching over Galois Field GF(2^4) with BCH(15,7) codes matches proximity without coordinate exposure.</a:t>
            </a:r>
          </a:p>
          <a:p>
            <a:pPr>
              <a:spcAft>
                <a:spcPts val="600"/>
              </a:spcAft>
              <a:defRPr sz="1300"/>
            </a:pPr>
            <a:r>
              <a:t>• Hardware-Bound Security: Deterministic Ed25519 keypairs derived and locked within Android Keystore / iOS Keychain.</a:t>
            </a:r>
          </a:p>
          <a:p>
            <a:pPr>
              <a:spcAft>
                <a:spcPts val="600"/>
              </a:spcAft>
              <a:defRPr sz="1300"/>
            </a:pPr>
            <a:r>
              <a:t>• JIT Trust Capsules: Short-lived (2h TTL) Ed25519-signed JWS tokens minted via single-use QR rendezvous handshakes.</a:t>
            </a:r>
          </a:p>
          <a:p>
            <a:pPr>
              <a:spcAft>
                <a:spcPts val="600"/>
              </a:spcAft>
              <a:defRPr sz="1300"/>
            </a:pPr>
            <a:r>
              <a:t>• Autonomous Security Suite: Continuous 10s Watchdog Signal-Loss Daemon, Behavioral Anti-Luring Risk Engine, and hash-chained audit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Google Shape;64;p14">
            <a:extLst>
              <a:ext uri="{FF2B5EF4-FFF2-40B4-BE49-F238E27FC236}">
                <a16:creationId xmlns:a16="http://schemas.microsoft.com/office/drawing/2014/main" id="{F314362E-5BAB-3C20-8808-42BB7CD5F97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Google Shape;65;p14">
            <a:extLst>
              <a:ext uri="{FF2B5EF4-FFF2-40B4-BE49-F238E27FC236}">
                <a16:creationId xmlns:a16="http://schemas.microsoft.com/office/drawing/2014/main" id="{00401ED0-61B3-85C6-C764-AAE465CBDEB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Google Shape;66;p14">
            <a:extLst>
              <a:ext uri="{FF2B5EF4-FFF2-40B4-BE49-F238E27FC236}">
                <a16:creationId xmlns:a16="http://schemas.microsoft.com/office/drawing/2014/main" id="{310DA320-DFEF-7214-150F-F80492D30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OBJECTIVES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ACBC29BF-CDDD-B281-974E-F972498607AA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Zero-Knowledge Discovery: Enable nearby strangers to discover assistance broadcasts within 500m-5km without transmitting plaintext coordinates.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Instant Cryptographic Rendezvous: Establish instant physical trust between strangers via single-use Ed25519 QR handshake tokens.</a:t>
            </a:r>
          </a:p>
          <a:p>
            <a:pPr>
              <a:spcAft>
                <a:spcPts val="600"/>
              </a:spcAft>
              <a:defRPr sz="1300"/>
            </a:pPr>
            <a:r>
              <a:t>• Autonomous Anti-Luring Protection: Enforce dynamic Harmlessness Scoring, velocity caps (&gt;2 requests in 10 mins), and mandatory guardian verification.</a:t>
            </a:r>
          </a:p>
          <a:p>
            <a:pPr>
              <a:spcAft>
                <a:spcPts val="600"/>
              </a:spcAft>
              <a:defRPr sz="1300"/>
            </a:pPr>
            <a:r>
              <a:t>• Continuous Safety Watchdog: Scan active sessions every 10s and automatically trigger multi-channel alerts (FCM push &amp; Brevo email) if signal is lost for &gt;= 15 seconds.</a:t>
            </a:r>
          </a:p>
          <a:p>
            <a:pPr>
              <a:spcAft>
                <a:spcPts val="600"/>
              </a:spcAft>
              <a:defRPr sz="1300"/>
            </a:pPr>
            <a:r>
              <a:t>• Multi-Modal Offline Resilience: Provide local transaction queueing and 1-tap standardized cellular SMS alerts with offline GPS map links.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4135-A421-DA51-73D8-612F44E4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Google Shape;64;p14">
            <a:extLst>
              <a:ext uri="{FF2B5EF4-FFF2-40B4-BE49-F238E27FC236}">
                <a16:creationId xmlns:a16="http://schemas.microsoft.com/office/drawing/2014/main" id="{21311DD9-112E-6808-2E13-A5CCE546980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Google Shape;65;p14">
            <a:extLst>
              <a:ext uri="{FF2B5EF4-FFF2-40B4-BE49-F238E27FC236}">
                <a16:creationId xmlns:a16="http://schemas.microsoft.com/office/drawing/2014/main" id="{BF93DC63-8857-357B-0AEB-3B73937A185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Google Shape;66;p14">
            <a:extLst>
              <a:ext uri="{FF2B5EF4-FFF2-40B4-BE49-F238E27FC236}">
                <a16:creationId xmlns:a16="http://schemas.microsoft.com/office/drawing/2014/main" id="{9D50008B-5677-C39B-BE2E-E9FD45C91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SCOPE OF THE PROJECT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FF90DAAA-BCA6-4C2D-0F1F-826F3AB7A41C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Everyday Community Mutual Aid: Connecting strangers for vehicle breakdown, transport/rides, elder/child assistance, and urgent supplies across 22 categories.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Situational Safety &amp; Escorts: Ephemeral safe walk tracking, timed journey guards, audible panic alarms, and realistic fake incoming exit calls.</a:t>
            </a:r>
          </a:p>
          <a:p>
            <a:pPr>
              <a:spcAft>
                <a:spcPts val="600"/>
              </a:spcAft>
              <a:defRPr sz="1300"/>
            </a:pPr>
            <a:r>
              <a:t>• Decentralized Peer-to-Peer Mesh: Direct coordination between civilian requesters and nearby volunteer responders before formal services arrive.</a:t>
            </a:r>
          </a:p>
          <a:p>
            <a:pPr>
              <a:spcAft>
                <a:spcPts val="600"/>
              </a:spcAft>
              <a:defRPr sz="1300"/>
            </a:pPr>
            <a:r>
              <a:t>• Cryptographic Auditability &amp; Governance: Tamper-evident hash-chained incident records (H_n = SHA-256(H_n-1 || Event || ID)) and verifiable proof reports.</a:t>
            </a:r>
          </a:p>
        </p:txBody>
      </p:sp>
    </p:spTree>
    <p:extLst>
      <p:ext uri="{BB962C8B-B14F-4D97-AF65-F5344CB8AC3E}">
        <p14:creationId xmlns:p14="http://schemas.microsoft.com/office/powerpoint/2010/main" val="367320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Google Shape;64;p14">
            <a:extLst>
              <a:ext uri="{FF2B5EF4-FFF2-40B4-BE49-F238E27FC236}">
                <a16:creationId xmlns:a16="http://schemas.microsoft.com/office/drawing/2014/main" id="{75A714DB-C7F6-89CF-5D07-D49AAB099D5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Google Shape;65;p14">
            <a:extLst>
              <a:ext uri="{FF2B5EF4-FFF2-40B4-BE49-F238E27FC236}">
                <a16:creationId xmlns:a16="http://schemas.microsoft.com/office/drawing/2014/main" id="{C49C0FB1-BA28-1B41-BE86-3C3EBD82AA5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Google Shape;66;p14">
            <a:extLst>
              <a:ext uri="{FF2B5EF4-FFF2-40B4-BE49-F238E27FC236}">
                <a16:creationId xmlns:a16="http://schemas.microsoft.com/office/drawing/2014/main" id="{E9CB92B3-DFFC-8AAA-449E-9321C2D06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EXISTING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1475F465-3EE0-E0F8-9099-5FF912CF57B6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Centralized Safety &amp; SOS Applications: Commercial platforms (e.g., Life360, Citizen, Google Personal Safety, bSafe) relying on centralized cloud architectures.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Continuous Plaintext Geolocation Streaming: Mobile devices constantly stream raw GPS latitude/longitude coordinates to central cloud databases.</a:t>
            </a:r>
          </a:p>
          <a:p>
            <a:pPr>
              <a:spcAft>
                <a:spcPts val="600"/>
              </a:spcAft>
              <a:defRPr sz="1300"/>
            </a:pPr>
            <a:r>
              <a:t>• Static Contact List Notifications: Emergency alerts are dispatched only to pre-configured family members regardless of their physical distance (often hundreds of miles away).</a:t>
            </a:r>
          </a:p>
          <a:p>
            <a:pPr>
              <a:spcAft>
                <a:spcPts val="600"/>
              </a:spcAft>
              <a:defRPr sz="1300"/>
            </a:pPr>
            <a:r>
              <a:t>• Centralized Emergency Dispatchers: Reliance on centralized hotlines (112, 911) with average response latencies ranging from 10 to 25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Google Shape;64;p14">
            <a:extLst>
              <a:ext uri="{FF2B5EF4-FFF2-40B4-BE49-F238E27FC236}">
                <a16:creationId xmlns:a16="http://schemas.microsoft.com/office/drawing/2014/main" id="{C6F3B455-5334-7DE3-FA14-17660F3FFF3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Google Shape;65;p14">
            <a:extLst>
              <a:ext uri="{FF2B5EF4-FFF2-40B4-BE49-F238E27FC236}">
                <a16:creationId xmlns:a16="http://schemas.microsoft.com/office/drawing/2014/main" id="{AE7357E8-36EE-A3B8-BFD3-047DF1E0560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Google Shape;66;p14">
            <a:extLst>
              <a:ext uri="{FF2B5EF4-FFF2-40B4-BE49-F238E27FC236}">
                <a16:creationId xmlns:a16="http://schemas.microsoft.com/office/drawing/2014/main" id="{B1446825-413F-62DB-BD56-FA89896D6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LIMITATIONS OF EXISTING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16828B1E-43C7-E69A-6993-1BEF51E270F4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Mass Surveillance &amp; Privacy Exposure: Central databases of location histories are vulnerable to corporate tracking, data breaches, and stalker exploitation.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High Response Latency: Distant contacts or overloaded central dispatchers cannot provide immediate physical help during the critical first 5 minutes.</a:t>
            </a:r>
          </a:p>
          <a:p>
            <a:pPr>
              <a:spcAft>
                <a:spcPts val="600"/>
              </a:spcAft>
              <a:defRPr sz="1300"/>
            </a:pPr>
            <a:r>
              <a:t>• Lack of Zero-Knowledge Math: Inability to perform spatial proximity matching without full plaintext coordinate disclosure.</a:t>
            </a:r>
          </a:p>
          <a:p>
            <a:pPr>
              <a:spcAft>
                <a:spcPts val="600"/>
              </a:spcAft>
              <a:defRPr sz="1300"/>
            </a:pPr>
            <a:r>
              <a:t>• Vulnerability to Predatory Exploitation: Absence of hardware-level challenge-response verification or behavioral velocity caps.</a:t>
            </a:r>
          </a:p>
          <a:p>
            <a:pPr>
              <a:spcAft>
                <a:spcPts val="600"/>
              </a:spcAft>
              <a:defRPr sz="1300"/>
            </a:pPr>
            <a:r>
              <a:t>• Single Point of Network Failure: When cellular data drops in basements or dead zones, existing cloud-dependent apps fail completely.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Google Shape;64;p14">
            <a:extLst>
              <a:ext uri="{FF2B5EF4-FFF2-40B4-BE49-F238E27FC236}">
                <a16:creationId xmlns:a16="http://schemas.microsoft.com/office/drawing/2014/main" id="{532252C1-B746-8847-841C-9DC7D322D5B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Google Shape;65;p14">
            <a:extLst>
              <a:ext uri="{FF2B5EF4-FFF2-40B4-BE49-F238E27FC236}">
                <a16:creationId xmlns:a16="http://schemas.microsoft.com/office/drawing/2014/main" id="{EC52FAA8-38E8-0A8E-F9E9-7B5527CC45C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Google Shape;66;p14">
            <a:extLst>
              <a:ext uri="{FF2B5EF4-FFF2-40B4-BE49-F238E27FC236}">
                <a16:creationId xmlns:a16="http://schemas.microsoft.com/office/drawing/2014/main" id="{0362CCF5-F3E7-5F99-C56A-25BADDF6B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PROPOSED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46D8FB7-04D9-4497-295E-7A0493D265FA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Decentralized Stranger Connection Protocol (Connify): Enables safe, zero-knowledge discovery and physical coordination between nearby individuals.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SHARP Spatial Matching Engine: 1024-bit Bloom filter indexing with Peterson-Gorenstein-Zierler BCH(15,7) decoding to correct GPS drift on-device.</a:t>
            </a:r>
          </a:p>
          <a:p>
            <a:pPr>
              <a:spcAft>
                <a:spcPts val="600"/>
              </a:spcAft>
              <a:defRPr sz="1300"/>
            </a:pPr>
            <a:r>
              <a:t>• Hardware-Derived Ed25519 Keys: Keystore-protected key derivation from hardware identifiers, preventing identity spoofing and Sybil attacks.</a:t>
            </a:r>
          </a:p>
          <a:p>
            <a:pPr>
              <a:spcAft>
                <a:spcPts val="600"/>
              </a:spcAft>
              <a:defRPr sz="1300"/>
            </a:pPr>
            <a:r>
              <a:t>• Ephemeral In-Flight Mesh: Socket.IO WebSocket channels that store zero chat logs or telemetry data in persistent memory.</a:t>
            </a:r>
          </a:p>
          <a:p>
            <a:pPr>
              <a:spcAft>
                <a:spcPts val="600"/>
              </a:spcAft>
              <a:defRPr sz="1300"/>
            </a:pPr>
            <a:r>
              <a:t>• Multi-Channel Autonomous Watchdog: Continuous 10s background scanner that alerts guardians via FCM &amp; Brevo SMTP if telemetry drops unexpectedly.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Google Shape;64;p14">
            <a:extLst>
              <a:ext uri="{FF2B5EF4-FFF2-40B4-BE49-F238E27FC236}">
                <a16:creationId xmlns:a16="http://schemas.microsoft.com/office/drawing/2014/main" id="{5EA60D58-0400-F2D5-980B-57849E77069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Google Shape;65;p14">
            <a:extLst>
              <a:ext uri="{FF2B5EF4-FFF2-40B4-BE49-F238E27FC236}">
                <a16:creationId xmlns:a16="http://schemas.microsoft.com/office/drawing/2014/main" id="{D0B82E0A-2273-0EC9-68DF-411CF6F4CAE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Google Shape;66;p14">
            <a:extLst>
              <a:ext uri="{FF2B5EF4-FFF2-40B4-BE49-F238E27FC236}">
                <a16:creationId xmlns:a16="http://schemas.microsoft.com/office/drawing/2014/main" id="{F8E6B497-E240-8A91-A202-64322C67C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ARCHITECTURE DIAGRAM OF PROPOSED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365CD65-F661-1B73-94CA-383DEF26556B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Client Layer (Connify): React Native 0.86, React 19, Zustand State Stores, VisionCamera QR Scanner, Notifee Push Notifications.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Gateway &amp; Security Layer: Fastify 5 REST Gateway, Rate Limiter (100 req/min), Ed25519 Session Token &amp; Firebase Bearer Authentication.</a:t>
            </a:r>
          </a:p>
          <a:p>
            <a:pPr>
              <a:spcAft>
                <a:spcPts val="600"/>
              </a:spcAft>
              <a:defRPr sz="1300"/>
            </a:pPr>
            <a:r>
              <a:t>• Core Controllers: DeviceController, EpisodeController, CapsuleController, LocationController, OutcomeController, ProfileController.</a:t>
            </a:r>
          </a:p>
          <a:p>
            <a:pPr>
              <a:spcAft>
                <a:spcPts val="600"/>
              </a:spcAft>
              <a:defRPr sz="1300"/>
            </a:pPr>
            <a:r>
              <a:t>• Autonomous Background Engines: BehavioralRiskEngine (Anti-Luring), LocationWatchdogService (10s scanner), Socket.IO Ephemeral Mesh.</a:t>
            </a:r>
          </a:p>
          <a:p>
            <a:pPr>
              <a:spcAft>
                <a:spcPts val="600"/>
              </a:spcAft>
              <a:defRPr sz="1300"/>
            </a:pPr>
            <a:r>
              <a:t>• Persistence &amp; External Services: MongoDB Atlas (2dsphere geospatial index), Firebase Admin SDK (Push Alerts), Brevo SMTP API (Email Alerts).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Google Shape;64;p14">
            <a:extLst>
              <a:ext uri="{FF2B5EF4-FFF2-40B4-BE49-F238E27FC236}">
                <a16:creationId xmlns:a16="http://schemas.microsoft.com/office/drawing/2014/main" id="{BA4C5DFB-2B55-4C7A-1936-CBBBE585597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Google Shape;65;p14">
            <a:extLst>
              <a:ext uri="{FF2B5EF4-FFF2-40B4-BE49-F238E27FC236}">
                <a16:creationId xmlns:a16="http://schemas.microsoft.com/office/drawing/2014/main" id="{93C570F7-B9C8-6199-2853-A7C041FBACB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Google Shape;66;p14">
            <a:extLst>
              <a:ext uri="{FF2B5EF4-FFF2-40B4-BE49-F238E27FC236}">
                <a16:creationId xmlns:a16="http://schemas.microsoft.com/office/drawing/2014/main" id="{5DDB32E6-794E-B666-BAB8-7D7A48C7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ADVANTAGES OF PROPOSED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3C631AFC-25F5-1FF2-D898-8E5B10F726C4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Absolute Privacy Guarantee: Raw GPS coordinates are never sent or stored on the central server; only 146 parity bytes cross the wire.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Sub-Second Local Discovery: Instant notification of nearby capable peers within customizable radii (50m to 5000m) via WebSockets.</a:t>
            </a:r>
          </a:p>
          <a:p>
            <a:pPr>
              <a:spcAft>
                <a:spcPts val="600"/>
              </a:spcAft>
              <a:defRPr sz="1300"/>
            </a:pPr>
            <a:r>
              <a:t>• Anti-Luring &amp; Ambush Immunity: Dynamic Harmlessness Score deducts points for suspicious aborts and blocks accounts with &gt;2 alerts in 10 mins.</a:t>
            </a:r>
          </a:p>
          <a:p>
            <a:pPr>
              <a:spcAft>
                <a:spcPts val="600"/>
              </a:spcAft>
              <a:defRPr sz="1300"/>
            </a:pPr>
            <a:r>
              <a:t>• Single-Use QR Rendezvous: Prevents replay attacks using atomic single-use UUIDv4 nonces in signed JWS trust capsules.</a:t>
            </a:r>
          </a:p>
          <a:p>
            <a:pPr>
              <a:spcAft>
                <a:spcPts val="600"/>
              </a:spcAft>
              <a:defRPr sz="1300"/>
            </a:pPr>
            <a:r>
              <a:t>• Full Offline Resilience: Automatic offline transaction queueing and 1-tap standardized SMS alerts with offline GPS map links.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75CA7-C5D7-1E20-20C4-1D02F88C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Google Shape;64;p14">
            <a:extLst>
              <a:ext uri="{FF2B5EF4-FFF2-40B4-BE49-F238E27FC236}">
                <a16:creationId xmlns:a16="http://schemas.microsoft.com/office/drawing/2014/main" id="{D5D27D29-EB85-3FCB-1A07-2C9D1BFA1E4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Google Shape;65;p14">
            <a:extLst>
              <a:ext uri="{FF2B5EF4-FFF2-40B4-BE49-F238E27FC236}">
                <a16:creationId xmlns:a16="http://schemas.microsoft.com/office/drawing/2014/main" id="{4A4F9063-F002-FA5A-62CF-DDA6CF28025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Google Shape;66;p14">
            <a:extLst>
              <a:ext uri="{FF2B5EF4-FFF2-40B4-BE49-F238E27FC236}">
                <a16:creationId xmlns:a16="http://schemas.microsoft.com/office/drawing/2014/main" id="{855BEB2D-13A7-2739-A236-93531FE7E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MODULE DESCRIPTION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C84448E6-F4AE-3C5E-AA44-CD14A5C4C64C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Module 1: Cryptographic Identity &amp; Keystore Derivation - Derives Ed25519 keypairs via TweetNaCl, stored in Android Keystore / iOS Keychain.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Module 2: SHARP Zero-Knowledge Spatial Matching - 9-grid neighborhood synthesis, 4x FNV-1a Bloom vectorization, BCH(15,7) parity extraction.</a:t>
            </a:r>
          </a:p>
          <a:p>
            <a:pPr>
              <a:spcAft>
                <a:spcPts val="600"/>
              </a:spcAft>
              <a:defRPr sz="1300"/>
            </a:pPr>
            <a:r>
              <a:t>• Module 3: Rendezvous Handshake &amp; JIT Trust Capsules - Time-locked Ed25519 JWS token minting with 2-hour TTL and QR barcode verification.</a:t>
            </a:r>
          </a:p>
          <a:p>
            <a:pPr>
              <a:spcAft>
                <a:spcPts val="600"/>
              </a:spcAft>
              <a:defRPr sz="1300"/>
            </a:pPr>
            <a:r>
              <a:t>• Module 4: Behavioral Risk &amp; Anti-Luring Engine - Dynamic scoring algorithm enforcing velocity limits, resolution ratios, and guardian verification.</a:t>
            </a:r>
          </a:p>
          <a:p>
            <a:pPr>
              <a:spcAft>
                <a:spcPts val="600"/>
              </a:spcAft>
              <a:defRPr sz="1300"/>
            </a:pPr>
            <a:r>
              <a:t>• Module 5: Real-Time Ephemeral Mesh &amp; Watchdog Daemon - Socket.IO room coordination, 10s signal-loss scanner, and multi-channel guardian dispatches.</a:t>
            </a:r>
          </a:p>
        </p:txBody>
      </p:sp>
    </p:spTree>
    <p:extLst>
      <p:ext uri="{BB962C8B-B14F-4D97-AF65-F5344CB8AC3E}">
        <p14:creationId xmlns:p14="http://schemas.microsoft.com/office/powerpoint/2010/main" val="3883549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3C80E2C9-38B6-8CBA-4F46-784738EF4A9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F9385A0B-74A7-09DE-C769-321EC172F48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86C55027-A480-5A85-BE14-DFDBC6FDD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TECHNOLOGY STACK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018C8677-3655-1593-41F9-ADDBDB7F5F93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Frontend / Mobile Client: React Native 0.86.0, React 19, TypeScript, Expo Metro Runtime, Zustand 5, Notifee, Vision Camera, Reanimated.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Backend Framework: Node.js &gt;= 22.11, Fastify 5.10, TypeScript 5.8, Socket.IO 4.8, Prisma ORM 6.4, Mongoose 9.8, Zod 4.4.</a:t>
            </a:r>
          </a:p>
          <a:p>
            <a:pPr>
              <a:spcAft>
                <a:spcPts val="600"/>
              </a:spcAft>
              <a:defRPr sz="1300"/>
            </a:pPr>
            <a:r>
              <a:t>• Cryptographic Primitives: TweetNaCl (Ed25519 / SHA-512), Jose (JWS / JWT), Galois Field GF(2^4) BCH(15,7) Spatial Matching Math.</a:t>
            </a:r>
          </a:p>
          <a:p>
            <a:pPr>
              <a:spcAft>
                <a:spcPts val="600"/>
              </a:spcAft>
              <a:defRPr sz="1300"/>
            </a:pPr>
            <a:r>
              <a:t>• Database &amp; Cloud Infrastructure: MongoDB Atlas (2dsphere geospatial index), Firebase Admin SDK (FCM), Brevo Transactional SMTP.</a:t>
            </a:r>
          </a:p>
          <a:p>
            <a:pPr>
              <a:spcAft>
                <a:spcPts val="600"/>
              </a:spcAft>
              <a:defRPr sz="1300"/>
            </a:pPr>
            <a:r>
              <a:t>• Testing &amp; Build Tooling: Node.js Native Test Runner (tsx), Jest, Gradle, Android SDK Platform 35.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DD22D-5969-A6B3-82F3-D2B366B4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81B964A3-3B95-C4F2-83AA-9F8FB12CD22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3BDB79BE-5225-9037-213B-038A079A4CD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6515CD76-79DE-F359-CA88-ABC046A60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23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UI PROTOTYPE / IMPLEMENTED SCREENS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5D13B73-08B7-67FC-4586-77892DD78218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25 Operational Screens Across Complete Lifecycle: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Onboarding &amp; Auth: SplashScreen, WelcomeScreen (Google OAuth, Email OTP, Guest Mode), GoogleAuthSuccessScreen, OnboardingScreen.</a:t>
            </a:r>
          </a:p>
          <a:p>
            <a:pPr>
              <a:spcAft>
                <a:spcPts val="600"/>
              </a:spcAft>
              <a:defRPr sz="1300"/>
            </a:pPr>
            <a:r>
              <a:t>• Requester Workflow: DashboardScreen (Circular Radar Visualizer &amp; Connect with Strangers), CreateRequestScreen (22 Categories, Urgency 1-5), SearchingScreen.</a:t>
            </a:r>
          </a:p>
          <a:p>
            <a:pPr>
              <a:spcAft>
                <a:spcPts val="600"/>
              </a:spcAft>
              <a:defRPr sz="1300"/>
            </a:pPr>
            <a:r>
              <a:t>• Responder &amp; Handshake: NearbyRequestsScreen (Distance-sorted feed), HandshakeScreen (QR Scanner, Covert Duress PIN 9999, Witness Attestation).</a:t>
            </a:r>
          </a:p>
          <a:p>
            <a:pPr>
              <a:spcAft>
                <a:spcPts val="600"/>
              </a:spcAft>
              <a:defRPr sz="1300"/>
            </a:pPr>
            <a:r>
              <a:t>• Active Incident &amp; Safety: EmergencyScreen (15-min countdown, P2P Chat, Escort Tracking), FeedbackScreen (Cryptographic Audit Report), UnifiedSafetyHubScreen.</a:t>
            </a:r>
          </a:p>
        </p:txBody>
      </p:sp>
    </p:spTree>
    <p:extLst>
      <p:ext uri="{BB962C8B-B14F-4D97-AF65-F5344CB8AC3E}">
        <p14:creationId xmlns:p14="http://schemas.microsoft.com/office/powerpoint/2010/main" val="443747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3CB2-41BC-72A0-8014-94EAEE6A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9F62761C-B8AF-1516-BDF2-208EE76747F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8C335E9B-F610-8AB9-A9A2-B4C42BEFC3F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35B63390-4AD3-9D54-7B82-D4F8B0075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IMPLEMENTATION DETAILS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D2E419B7-65AB-4630-8A54-D9C30B89DC67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Zero-Knowledge Spatial Pipeline: Discretizes GPS coordinates to 3 decimal places -&gt; hashes 9 neighbor cells -&gt; generates 1024-bit Bloom vector -&gt; produces 146 parity bytes.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Hardware-Enforced Handshake: Requester displays Sign_SK(EpisodeID || Nonce || Expire); Helper scans and redeems JIT Capsule atomically.</a:t>
            </a:r>
          </a:p>
          <a:p>
            <a:pPr>
              <a:spcAft>
                <a:spcPts val="600"/>
              </a:spcAft>
              <a:defRPr sz="1300"/>
            </a:pPr>
            <a:r>
              <a:t>• Watchdog Signal-Loss Logic: Queries active sessions where (now - lastPingAt &gt;= 15s); dispatches FCM push and Brevo email with Google Maps link.</a:t>
            </a:r>
          </a:p>
          <a:p>
            <a:pPr>
              <a:spcAft>
                <a:spcPts val="600"/>
              </a:spcAft>
              <a:defRPr sz="1300"/>
            </a:pPr>
            <a:r>
              <a:t>• Tamper-Evident Hash Chain: Enforces H_n = SHA-256(H_n-1 || EventType || EpisodeID) with admin verification and self-healing endpoints.</a:t>
            </a:r>
          </a:p>
          <a:p>
            <a:pPr>
              <a:spcAft>
                <a:spcPts val="600"/>
              </a:spcAft>
              <a:defRPr sz="1300"/>
            </a:pPr>
            <a:r>
              <a:t>• Android Widget Bridge: Syncs real-time state to native Android AppWidgets for 1-tap home screen SOS triggers.</a:t>
            </a:r>
          </a:p>
        </p:txBody>
      </p:sp>
    </p:spTree>
    <p:extLst>
      <p:ext uri="{BB962C8B-B14F-4D97-AF65-F5344CB8AC3E}">
        <p14:creationId xmlns:p14="http://schemas.microsoft.com/office/powerpoint/2010/main" val="3667307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8FA67-4534-F9A4-8E6C-DB83AB8D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1958B46E-E2A6-F591-8B44-79C24A94D18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D433A80E-C41E-09C3-A7E4-B3B54C46E61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7A5E963E-7481-95E8-CB1A-DB6CFEB06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TEST CASES / EXPERIMENTAL ANALYSIS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124DB060-BA99-C9B6-3EE5-E7EED568E261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Backend Test Suite (10 Native Suites - 100% Passed):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allEndpoints.test.ts: E2E REST API endpoints across devices, episodes, capsules, and outcomes.</a:t>
            </a:r>
          </a:p>
          <a:p>
            <a:pPr>
              <a:spcAft>
                <a:spcPts val="600"/>
              </a:spcAft>
              <a:defRPr sz="1300"/>
            </a:pPr>
            <a:r>
              <a:t>• CapsuleController.test.ts: JIT capsule minting, QR code signature verification, and replay prevention.</a:t>
            </a:r>
          </a:p>
          <a:p>
            <a:pPr>
              <a:spcAft>
                <a:spcPts val="600"/>
              </a:spcAft>
              <a:defRPr sz="1300"/>
            </a:pPr>
            <a:r>
              <a:t>• harmlessnessSystem.test.ts: Trust score calculation and velocity cap (&gt;2 broadcasts in 10 mins).</a:t>
            </a:r>
          </a:p>
          <a:p>
            <a:pPr>
              <a:spcAft>
                <a:spcPts val="600"/>
              </a:spcAft>
              <a:defRPr sz="1300"/>
            </a:pPr>
            <a:r>
              <a:t>• locationWatchdog.test.ts: 15-second signal-loss detection and guardian alert dispatch.</a:t>
            </a:r>
          </a:p>
          <a:p>
            <a:pPr>
              <a:spcAft>
                <a:spcPts val="600"/>
              </a:spcAft>
              <a:defRPr sz="1300"/>
            </a:pPr>
            <a:r>
              <a:t>• symmetricVerificationPipeline.test.ts: Galois Field BCH(15,7) mathematical convergence &amp; error correction.</a:t>
            </a:r>
          </a:p>
          <a:p>
            <a:pPr>
              <a:spcAft>
                <a:spcPts val="600"/>
              </a:spcAft>
              <a:defRPr sz="1300"/>
            </a:pPr>
            <a:r>
              <a:t>Client Test Suite (11 Jest Suites - 100% Passed):</a:t>
            </a:r>
          </a:p>
          <a:p>
            <a:pPr>
              <a:spcAft>
                <a:spcPts val="600"/>
              </a:spcAft>
              <a:defRPr sz="1300"/>
            </a:pPr>
            <a:r>
              <a:t>• sharp.test.ts, secureKeyService.test.ts, authStore.test.ts, episodeStore.test.ts, apiClient.test.ts, components.test.tsx.</a:t>
            </a:r>
          </a:p>
        </p:txBody>
      </p:sp>
    </p:spTree>
    <p:extLst>
      <p:ext uri="{BB962C8B-B14F-4D97-AF65-F5344CB8AC3E}">
        <p14:creationId xmlns:p14="http://schemas.microsoft.com/office/powerpoint/2010/main" val="2956009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A0563-4D88-63C0-FDF9-8AAABD7C3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F33EFAC6-5ECE-B5DE-2BF9-0BBF46F136E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F7985AF3-D28F-D528-4D0B-F6AA1849D7E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89DF0CA8-8376-837D-3747-BCB486886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PROGRESS / OUTPUT SCREENSHOTS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044F027B-2545-0173-F435-69BEB31B25E2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Full-Stack Monorepo Fully Implemented: Fastify backend and React Native multi-platform client running concurrently via start_dev.bat.</a:t>
            </a:r>
            <a:endParaRPr lang="en-US"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Production Release Pipeline: Android APK &amp; AAB builds automated via bump_version.js and Gradle (version 3.7.5).</a:t>
            </a:r>
          </a:p>
          <a:p>
            <a:pPr>
              <a:spcAft>
                <a:spcPts val="600"/>
              </a:spcAft>
              <a:defRPr sz="1300"/>
            </a:pPr>
            <a:r>
              <a:t>• Cryptographic Verification Validated: SHARP protocol executes sub-millisecond spatial syndrome extraction and error correction.</a:t>
            </a:r>
          </a:p>
          <a:p>
            <a:pPr>
              <a:spcAft>
                <a:spcPts val="600"/>
              </a:spcAft>
              <a:defRPr sz="1300"/>
            </a:pPr>
            <a:r>
              <a:t>• Tactical Safety Hub Ready: Audible sirens, fake call simulator, quiet journey guard, and offline cellular SMS formatter fully functional.</a:t>
            </a:r>
          </a:p>
          <a:p>
            <a:pPr>
              <a:spcAft>
                <a:spcPts val="600"/>
              </a:spcAft>
              <a:defRPr sz="1300"/>
            </a:pPr>
            <a:r>
              <a:t>• Compliance &amp; Documentation: Zero-trace privacy policy and Play Store Account Deletion Google Form compliance verified.</a:t>
            </a:r>
          </a:p>
        </p:txBody>
      </p:sp>
    </p:spTree>
    <p:extLst>
      <p:ext uri="{BB962C8B-B14F-4D97-AF65-F5344CB8AC3E}">
        <p14:creationId xmlns:p14="http://schemas.microsoft.com/office/powerpoint/2010/main" val="3888690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991C-3A94-EE3B-7DA7-F8216490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309D2359-6B8D-0202-3605-C69230566D9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79D3D1C9-AA6F-2856-FC39-5BD4729B52D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9664016A-A734-7824-8DC2-BF7FB44E1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 sz="2200" b="1"/>
            </a:pPr>
            <a:r>
              <a:t>CONCLUSION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E4D5C0DE-E72B-F12E-7929-0788A63967CF}"/>
              </a:ext>
            </a:extLst>
          </p:cNvPr>
          <p:cNvSpPr txBox="1"/>
          <p:nvPr/>
        </p:nvSpPr>
        <p:spPr>
          <a:xfrm>
            <a:off x="984250" y="1146175"/>
            <a:ext cx="7281863" cy="33194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defRPr sz="1300"/>
            </a:pPr>
            <a:r>
              <a:t>• Decentralized Paradigm: Proves that nearby strangers can safely connect, build instant trust, and assist each other without centralized surveillance.</a:t>
            </a:r>
            <a:endParaRPr sz="2000" b="1" i="1" kern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• Mathematical Breakthrough: The SHARP protocol successfully solves the GPS sensor jitter problem in zero-knowledge proximity discovery using BCH(15,7) codes.</a:t>
            </a:r>
          </a:p>
          <a:p>
            <a:pPr>
              <a:spcAft>
                <a:spcPts val="600"/>
              </a:spcAft>
              <a:defRPr sz="1300"/>
            </a:pPr>
            <a:r>
              <a:t>• Societal Impact: Fosters resilient, compassionate communities by bridging everyday mutual aid with mission-critical personal safety.</a:t>
            </a:r>
          </a:p>
          <a:p>
            <a:pPr>
              <a:spcAft>
                <a:spcPts val="600"/>
              </a:spcAft>
              <a:defRPr sz="1300"/>
            </a:pPr>
            <a:r>
              <a:t>• Future Enhancements: Direct device-to-device Bluetooth Low Energy (BLE) / Wi-Fi Direct mesh routing and Zero-Knowledge Identity Credentials (zk-SNARKs).</a:t>
            </a:r>
          </a:p>
        </p:txBody>
      </p:sp>
    </p:spTree>
    <p:extLst>
      <p:ext uri="{BB962C8B-B14F-4D97-AF65-F5344CB8AC3E}">
        <p14:creationId xmlns:p14="http://schemas.microsoft.com/office/powerpoint/2010/main" val="1099896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Google Shape;64;p14">
            <a:extLst>
              <a:ext uri="{FF2B5EF4-FFF2-40B4-BE49-F238E27FC236}">
                <a16:creationId xmlns:a16="http://schemas.microsoft.com/office/drawing/2014/main" id="{52E05458-BED5-21FA-4FB0-D917B301F4B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313" y="0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Google Shape;65;p14">
            <a:extLst>
              <a:ext uri="{FF2B5EF4-FFF2-40B4-BE49-F238E27FC236}">
                <a16:creationId xmlns:a16="http://schemas.microsoft.com/office/drawing/2014/main" id="{73694F64-26EC-A1C0-8CFE-960E720F9D6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76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5E47FC-886D-7E44-764E-EBA8A14C642C}"/>
              </a:ext>
            </a:extLst>
          </p:cNvPr>
          <p:cNvSpPr/>
          <p:nvPr/>
        </p:nvSpPr>
        <p:spPr>
          <a:xfrm>
            <a:off x="158750" y="1858963"/>
            <a:ext cx="8596313" cy="11080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2200" b="1"/>
            </a:pPr>
            <a:r>
              <a:t>Queries ????</a:t>
            </a:r>
          </a:p>
        </p:txBody>
      </p:sp>
      <p:sp>
        <p:nvSpPr>
          <p:cNvPr id="6" name="Google Shape;58;p13">
            <a:extLst>
              <a:ext uri="{FF2B5EF4-FFF2-40B4-BE49-F238E27FC236}">
                <a16:creationId xmlns:a16="http://schemas.microsoft.com/office/drawing/2014/main" id="{32B57D63-6C0A-D9C6-D062-74184B2E8795}"/>
              </a:ext>
            </a:extLst>
          </p:cNvPr>
          <p:cNvSpPr txBox="1"/>
          <p:nvPr/>
        </p:nvSpPr>
        <p:spPr>
          <a:xfrm>
            <a:off x="931863" y="1858963"/>
            <a:ext cx="7280275" cy="133826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buNone/>
              <a:defRPr sz="1300"/>
            </a:pPr>
            <a:r>
              <a:t>Thank You!</a:t>
            </a:r>
            <a:endParaRPr sz="15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Aft>
                <a:spcPts val="600"/>
              </a:spcAft>
              <a:defRPr sz="1300"/>
            </a:pPr>
            <a:r>
              <a:t>Open for Questions, Technical Discussion, and Live System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164</Words>
  <Application>Microsoft Office PowerPoint</Application>
  <PresentationFormat>On-screen Show (16:9)</PresentationFormat>
  <Paragraphs>50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Algerian</vt:lpstr>
      <vt:lpstr>Arial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</dc:creator>
  <cp:lastModifiedBy>keerthanasampathh@outlook.com</cp:lastModifiedBy>
  <cp:revision>31</cp:revision>
  <dcterms:modified xsi:type="dcterms:W3CDTF">2026-09-10T09:39:39Z</dcterms:modified>
</cp:coreProperties>
</file>